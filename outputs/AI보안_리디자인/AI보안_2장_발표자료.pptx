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3898ebd0e34fd1" /><Relationship Type="http://schemas.openxmlformats.org/officeDocument/2006/relationships/extended-properties" Target="/docProps/app.xml" Id="R2d53dcc25ff44c48" /><Relationship Type="http://schemas.openxmlformats.org/officeDocument/2006/relationships/officeDocument" Target="/ppt/presentation.xml" Id="R1f49ffa330544a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191ec735e44f25"/>
  </p:sldMasterIdLst>
  <p:notesMasterIdLst>
    <p:notesMasterId xmlns:r="http://schemas.openxmlformats.org/officeDocument/2006/relationships" r:id="Rd28e7d77aed94e97"/>
  </p:notesMasterIdLst>
  <p:sldIdLst>
    <p:sldId xmlns:r="http://schemas.openxmlformats.org/officeDocument/2006/relationships" id="256" r:id="Re6ac0001e0ef4786"/>
    <p:sldId xmlns:r="http://schemas.openxmlformats.org/officeDocument/2006/relationships" id="257" r:id="Rffcd3df192514f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585e990ba64843" /><Relationship Type="http://schemas.openxmlformats.org/officeDocument/2006/relationships/slideMaster" Target="/ppt/slideMasters/slideMaster1.xml" Id="R15191ec735e44f25" /><Relationship Type="http://schemas.openxmlformats.org/officeDocument/2006/relationships/notesMaster" Target="/ppt/notesMasters/notesMaster1.xml" Id="Rd28e7d77aed94e97" /><Relationship Type="http://schemas.openxmlformats.org/officeDocument/2006/relationships/presProps" Target="/ppt/presProps.xml" Id="R5610063031854c7a" /><Relationship Type="http://schemas.openxmlformats.org/officeDocument/2006/relationships/tableStyles" Target="/ppt/tableStyles.xml" Id="R21067aec6fb54fe0" /><Relationship Type="http://schemas.openxmlformats.org/officeDocument/2006/relationships/slide" Target="/ppt/slides/slide1.xml" Id="Re6ac0001e0ef4786" /><Relationship Type="http://schemas.openxmlformats.org/officeDocument/2006/relationships/slide" Target="/ppt/slides/slide2.xml" Id="Rffcd3df192514f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b66cd827194a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5d52dc6b334fa7" /><Relationship Type="http://schemas.openxmlformats.org/officeDocument/2006/relationships/notesMaster" Target="/ppt/notesMasters/notesMaster1.xml" Id="Ra7f728d219b54c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924bdc3cd745d4" /><Relationship Type="http://schemas.openxmlformats.org/officeDocument/2006/relationships/notesMaster" Target="/ppt/notesMasters/notesMaster1.xml" Id="Reae23561f59d4a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ARTEX 근거: Theori, 2026.10.15, https://theori.io/ko/news/80835593-435f-480d-8b16-ec8039a17fb1</a:t>
            </a:r>
          </a:p>
          <a:p xmlns:a="http://schemas.openxmlformats.org/drawingml/2006/main">
            <a:r>
              <a:t>사용자가 이전에 공유한 「ARTEX 해킹 프레임워크 요약」 대화 참고. 공격 자동화와 자체 업무도구 점검의 필요성을 연결한 부분은 본 자료의 해석이며, 문단속이 ARTEX 공격을 차단한다는 검증은 아님.</a:t>
            </a:r>
          </a:p>
          <a:p xmlns:a="http://schemas.openxmlformats.org/drawingml/2006/main">
            <a:r>
              <a:t>PoC 근거: 시연자료/검증결과.json, docs/Gemini_PPT_2장_요약.md, 첨부 AI 업무도구 보안점검 이미지. 6가지 합성 코드의 수정 전 탐지 및 수정 후 해당 단서 미검출. 실제 유출이나 공격 재현 결과가 아니며, 사내 시스템 및 실제 계정별 권한 검증은 별도 필요.</a:t>
            </a:r>
          </a:p>
          <a:p xmlns:a="http://schemas.openxmlformats.org/drawingml/2006/main">
            <a:r>
              <a:t>우측 위험 예시는 문단속 시연자료의 코드 유형을 바탕으로 한 가능한 영향 설명입니다. 특정 금융권 사고의 원인으로 단정한 내용이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ARTEX 근거: Theori, 2026.10.15, https://theori.io/ko/news/80835593-435f-480d-8b16-ec8039a17fb1</a:t>
            </a:r>
          </a:p>
          <a:p xmlns:a="http://schemas.openxmlformats.org/drawingml/2006/main">
            <a:r>
              <a:t>사용자가 이전에 공유한 「ARTEX 해킹 프레임워크 요약」 대화 참고. 공격 자동화와 자체 업무도구 점검의 필요성을 연결한 부분은 본 자료의 해석이며, 문단속이 ARTEX 공격을 차단한다는 검증은 아님.</a:t>
            </a:r>
          </a:p>
          <a:p xmlns:a="http://schemas.openxmlformats.org/drawingml/2006/main">
            <a:r>
              <a:t>PoC 근거: 시연자료/검증결과.json, docs/Gemini_PPT_2장_요약.md, 첨부 AI 업무도구 보안점검 이미지. 6가지 합성 코드의 수정 전 탐지 및 수정 후 해당 단서 미검출. 실제 유출이나 공격 재현 결과가 아니며, 사내 시스템 및 실제 계정별 권한 검증은 별도 필요.</a:t>
            </a:r>
          </a:p>
          <a:p xmlns:a="http://schemas.openxmlformats.org/drawingml/2006/main">
            <a:r>
              <a:t>파일 원문은 외부 AI로 자동 전송하지 않습니다. 사용자가 수정·확인 요청문을 복사해 별도 AI에 전달합니다. 문의 전 자가점검과 수정 요청 구체화는 기대효과이며 시간 절감 실측 결과는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af1029ac65442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d0c812751c440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e5e86dd6a44dd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19b543a55e4e7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d5835e8daf4b1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c27bd0a1fd40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5E0ECF4-79FC-4A37-899D-5D1E53E942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3CA6047-2E2A-446B-A192-835B1F567CA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566D6FD-5E5B-4634-A821-69D2768D94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71C8133-1873-4222-87F9-4BF9A3012B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511A887-405A-4CEA-AD90-6E2DB2B478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C7D9B18-63F9-497F-933B-EA002083D1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DDEAC2B-29BA-4DC8-BA8B-FFA2EFAD68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40F3814-23FB-4001-87FA-D6B4CE467EA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25A0673-6AB2-4615-9ADA-FD01E45EAF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5879A5E-A4D0-4A23-A799-E1F784ADEC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7e67a1f8df461e" /><Relationship Type="http://schemas.openxmlformats.org/officeDocument/2006/relationships/slideLayout" Target="/ppt/slideLayouts/slideLayout1.xml" Id="Ra401eba6ca8643b0" /><Relationship Type="http://schemas.openxmlformats.org/officeDocument/2006/relationships/slideLayout" Target="/ppt/slideLayouts/slideLayout2.xml" Id="R11d66335dbfc4799" /><Relationship Type="http://schemas.openxmlformats.org/officeDocument/2006/relationships/slideLayout" Target="/ppt/slideLayouts/slideLayout3.xml" Id="R11963ad423fe4066" /><Relationship Type="http://schemas.openxmlformats.org/officeDocument/2006/relationships/slideLayout" Target="/ppt/slideLayouts/slideLayout4.xml" Id="Rc3ee3e5ca4ae4bce" /><Relationship Type="http://schemas.openxmlformats.org/officeDocument/2006/relationships/slideLayout" Target="/ppt/slideLayouts/slideLayout5.xml" Id="R697ebdcf67124d8b" /><Relationship Type="http://schemas.openxmlformats.org/officeDocument/2006/relationships/slideLayout" Target="/ppt/slideLayouts/slideLayout6.xml" Id="R47b06a9ee3464c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01eba6ca8643b0"/>
    <p:sldLayoutId xmlns:r="http://schemas.openxmlformats.org/officeDocument/2006/relationships" id="2147483650" r:id="R11d66335dbfc4799"/>
    <p:sldLayoutId xmlns:r="http://schemas.openxmlformats.org/officeDocument/2006/relationships" id="2147483651" r:id="R11963ad423fe4066"/>
    <p:sldLayoutId xmlns:r="http://schemas.openxmlformats.org/officeDocument/2006/relationships" id="2147483652" r:id="Rc3ee3e5ca4ae4bce"/>
    <p:sldLayoutId xmlns:r="http://schemas.openxmlformats.org/officeDocument/2006/relationships" id="2147483653" r:id="R697ebdcf67124d8b"/>
    <p:sldLayoutId xmlns:r="http://schemas.openxmlformats.org/officeDocument/2006/relationships" id="2147483654" r:id="R47b06a9ee3464c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322965d0084061" /><Relationship Type="http://schemas.openxmlformats.org/officeDocument/2006/relationships/notesSlide" Target="/ppt/notesSlides/notesSlide1.xml" Id="R8fcb774065104a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ea750a374d4952" /><Relationship Type="http://schemas.openxmlformats.org/officeDocument/2006/relationships/notesSlide" Target="/ppt/notesSlides/notesSlide2.xml" Id="R8a96e954de494e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D65D5C-35C7-4B60-AE40-7CCB3286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1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1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1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1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1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1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1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1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1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1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C6880"/>
                </a:solidFill>
                <a:latin typeface="Malgun Gothic"/>
                <a:ea typeface="Malgun Gothic"/>
                <a:cs typeface="Malgun Gothic"/>
              </a:rPr>
              <a:t>AX 혁신 TF  /  정보보호그룹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CA4D2D-1433-4F2B-BFE2-8E2E4DA5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05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05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05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05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05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05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05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05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05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rPr>
              <a:t>AI 보안의 필요성  |  출처: Theori ARTEX 분석 발표, 2026.10.15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712F98-3767-45F1-B14F-00260AE6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05779D-9A74-4013-A4B1-F1BDEE5A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23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2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2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2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2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2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2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2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2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2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rPr>
              <a:t>AI 업무도구의 보안, 공개 전부터 확인해야 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F5B5EA-E033-4926-9F75-94F0C6CD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23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rPr>
              <a:t>만드는 문턱은 낮아졌고, 공격 과정도 자동화되고 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D0D42C-1986-4E82-AEB6-9C53DD17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C8485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 b="1">
                <a:solidFill>
                  <a:srgbClr val="C8485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 b="1">
                <a:solidFill>
                  <a:srgbClr val="C8485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 b="1">
                <a:solidFill>
                  <a:srgbClr val="C8485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 b="1">
                <a:solidFill>
                  <a:srgbClr val="C8485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 b="1">
                <a:solidFill>
                  <a:srgbClr val="C8485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 b="1">
                <a:solidFill>
                  <a:srgbClr val="C8485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 b="1">
                <a:solidFill>
                  <a:srgbClr val="C8485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 b="1">
                <a:solidFill>
                  <a:srgbClr val="C8485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 b="1">
                <a:solidFill>
                  <a:srgbClr val="C848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C8485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C84854"/>
                </a:solidFill>
                <a:latin typeface="Malgun Gothic"/>
                <a:ea typeface="Malgun Gothic"/>
                <a:cs typeface="Malgun Gothic"/>
              </a:rPr>
              <a:t>ARTEX가 보여준 변화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EDB392-EFAC-4F5B-8FAD-7790FCD9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28950"/>
            <a:ext cx="5048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rPr>
              <a:t>공격 계획 수립</a:t>
            </a:r>
          </a:p>
          <a:p xmlns:a="http://schemas.openxmlformats.org/drawingml/2006/main">
            <a:pPr>
              <a:defRPr sz="255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rPr>
              <a:t>도구 실행</a:t>
            </a:r>
          </a:p>
          <a:p xmlns:a="http://schemas.openxmlformats.org/drawingml/2006/main">
            <a:pPr>
              <a:defRPr sz="255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rPr>
              <a:t>취약점 악용 시도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CE66FB-0BC4-4219-A3B7-7B3FCE1B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542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rPr>
              <a:t>사람의 개입 없이 공격 과정을 수행하는 AI 도구</a:t>
            </a:r>
          </a:p>
          <a:p xmlns:a="http://schemas.openxmlformats.org/drawingml/2006/main">
            <a:pPr>
              <a:defRPr sz="165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rPr>
              <a:t>국내 금융권 침해사고에서 사용 흔적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A0FC66-1047-43BD-9E33-83847235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8125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rPr>
              <a:t>업무도구에서 먼저 볼 빈틈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099C7F-7424-4E5C-96F5-C9020181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28950"/>
            <a:ext cx="5048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rPr>
              <a:t>비밀키 노출 → 무단 사용</a:t>
            </a:r>
          </a:p>
          <a:p xmlns:a="http://schemas.openxmlformats.org/drawingml/2006/main">
            <a:pPr>
              <a:defRPr sz="21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rPr>
              <a:t>공개된 권한 → 자료 변경</a:t>
            </a:r>
          </a:p>
          <a:p xmlns:a="http://schemas.openxmlformats.org/drawingml/2006/main">
            <a:pPr>
              <a:defRPr sz="21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rPr>
              <a:t>입력값 연결 → 명령 악용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AA39DA-6422-4DE2-9A8E-65F6C889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95300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rPr>
              <a:t>화면의 정상 동작만으로는</a:t>
            </a:r>
          </a:p>
          <a:p xmlns:a="http://schemas.openxmlformats.org/drawingml/2006/main">
            <a:pPr>
              <a:defRPr sz="18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rPr>
              <a:t>안전한 사용을 판단하기 어렵습니다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5B79E5-979A-455D-AD60-55E67248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4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rPr>
              <a:t>개발자의 자가점검과 보안 담당자의 검토를 함께 운영</a:t>
            </a:r>
          </a:p>
        </p:txBody>
      </p:sp>
    </p:spTree>
    <p:extLst>
      <p:ext uri="{BB962C8B-B14F-4D97-AF65-F5344CB8AC3E}">
        <p14:creationId xmlns:p14="http://schemas.microsoft.com/office/powerpoint/2010/main" val="13848273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EF2E8B-14C5-499F-93A9-69A5F84D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1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1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1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1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1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1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1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1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1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1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C6880"/>
                </a:solidFill>
                <a:latin typeface="Malgun Gothic"/>
                <a:ea typeface="Malgun Gothic"/>
                <a:cs typeface="Malgun Gothic"/>
              </a:rPr>
              <a:t>AX 혁신 TF  /  정보보호그룹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4EA562-39E5-4950-8041-E6A758F0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05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05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05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05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05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05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05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05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05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rPr>
              <a:t>현재 범위: 파일 검사 PoC·Sites 비공개 배포  |  사내 시스템·실제 계정별 권한 검증 미포함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DACD7D-8E20-468F-B8A2-BA7E66D0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758E33-AEDB-4C74-B170-E3EE3614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45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45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45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45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45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45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45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45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45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rPr>
              <a:t>문단속 · 발견에서 수정 확인까지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02C169-BC12-4A9C-BED6-22B69810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4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rPr>
              <a:t>비개발자도 위험을 이해하고, 만든 AI에게 수정을 부탁할 수 있도록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E331FF-E94C-4AA4-BA43-38900B23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24100"/>
            <a:ext cx="2476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74012E-F5C2-497B-9C8D-B8188559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384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D7343F-8534-4E52-8365-B8ACA911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33675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rPr>
              <a:t>파일·폴더 검사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B0426C-80EA-44AD-B69C-995686B9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623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rPr>
              <a:t>브라우저 안에서 검사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D156BE-6FB8-41FE-A612-2EAB71CA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6479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6472B8-1F73-4062-A05C-105BD7C8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324100"/>
            <a:ext cx="2476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09C4CB-E108-4937-A81D-42F8F084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4384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B2EFF2-1C5D-40F4-A32E-47D233B6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733675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rPr>
              <a:t>위험 단서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9FDD2D-248C-4E86-9DB9-46CBCA7F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1623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rPr>
              <a:t>위치와 쉬운 설명 제공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2D1C0F-D7B2-4F80-B610-C3083BBB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479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F7BA7D-75F1-41CD-B1ED-7D9AA4B8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24100"/>
            <a:ext cx="2476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B7D69C-C534-4E77-93B3-645F3963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CFF202-D484-49A6-B7BC-0245EB6C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33675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rPr>
              <a:t>AI에 수정 요청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A42745-2641-4427-A2CB-A1BC1654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623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rPr>
              <a:t>요청문 복사 후 전달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840CC5-F5C2-42D3-96E7-C7AFB3F0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6479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0773B1-E9A0-48B3-BC00-E67A59FA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324100"/>
            <a:ext cx="2476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8EC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67E98B-197B-4C1F-A2A4-A2F09F79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4384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776484-A591-4CE1-A9ED-09EE2AAB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733675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고친 파일 재검사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2E8C67-508F-447F-8C35-4898EE44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1623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수정 전후 결과 비교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A9D6B2-F35E-4B24-AEFC-45490B35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76675"/>
            <a:ext cx="71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1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1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1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1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1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1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1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1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1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5C6880"/>
                </a:solidFill>
                <a:latin typeface="Malgun Gothic"/>
                <a:ea typeface="Malgun Gothic"/>
                <a:cs typeface="Malgun Gothic"/>
              </a:rPr>
              <a:t>기존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29E191-27A6-4E76-AF4A-0817F497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576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rPr>
              <a:t>담당자에게 문의 → 전문 분석 → 수정 요청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E7405E-349E-43E9-873A-004589BD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62450"/>
            <a:ext cx="71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rPr>
              <a:t>개선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2C47A1-A347-49C2-83BC-FC9EA8C5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434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rPr>
              <a:t>개발자가 먼저 점검·재검사 → 담당자는 위험 판단·수정 검토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961935-0097-43F6-8664-A61C74F4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8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48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48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48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48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48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48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48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48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48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rPr>
              <a:t>6 / 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36F523-CDBE-4D7B-8DA7-3EAAB58E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162550"/>
            <a:ext cx="866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rPr>
              <a:t>시연 유형에서 수정 전 탐지·수정 후 해당 단서 미검출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B3E0F6-FE01-457C-88DB-0BB84390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610225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rPr>
              <a:t>비밀키 2종 · 고객 검색 · 서버 명령 · 공개 변경 권한 · 입력문 코드 실행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F6383A-2AE3-46E9-82F4-AD8C10D4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48375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rPr>
              <a:t>원문은 브라우저 안에서 검사 · 자동 수정 없음 · 실제 유출이나 모든 취약점 해결을 보장하는 결과는 아님</a:t>
            </a:r>
          </a:p>
        </p:txBody>
      </p:sp>
    </p:spTree>
    <p:extLst>
      <p:ext uri="{BB962C8B-B14F-4D97-AF65-F5344CB8AC3E}">
        <p14:creationId xmlns:p14="http://schemas.microsoft.com/office/powerpoint/2010/main" val="18637140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2026-10-21T02:57:00.5540000Z</dcterms:created>
  <dcterms:modified xsi:type="dcterms:W3CDTF">2026-10-21T02:57:00.5540000Z</dcterms:modified>
</coreProperties>
</file>